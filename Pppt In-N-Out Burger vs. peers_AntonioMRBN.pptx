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KutrPLNmJO4Coc1p4cbAZBzUG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qué valoran los empleados de In-N-Out, qué les hace irse y qué debería hacer RRHH, siempre comparado con la competencia.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Insistir: no es un ranking de opiniones; es qué temas aparecen y si cuestan puntos. El método está para dar fiabilidad; lo importante son los resultados.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Punto de partida muy alto: la marca empleadora es un activo. Por eso las áreas de mejora son relativas, no una crisis.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22ced42281e33bb9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22ced42281e33bb9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h22ced42281e33bb9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la diferencia más grande y más sólida. Ojo: es también la queja que más cuesta cuando aparece, así que hay que protegerla.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matriz mecánica pondría el ritmo como prioridad uno. El contraste con la nota dice que no es lo que hace daño; lo que hace daño son los mandos.</a:t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antiguos de In-N-Out siguen puntuando alto: se van por la naturaleza del puesto (ritmo, horarios), no por desencanto. Los jefes sí empujan a la salida.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2ced42281e33bb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22ced42281e33bb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22ced42281e33bb9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acciones concretas. Cerrar con los límites: es un diagnóstico de señales, no una medición de toda la plantilla.</a:t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5F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Arial"/>
              <a:buNone/>
              <a:defRPr sz="32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D1D1B"/>
              </a:buClr>
              <a:buSzPts val="1600"/>
              <a:buNone/>
              <a:defRPr sz="16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D1D1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B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16000" cy="76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1193800"/>
            <a:ext cx="10883392" cy="71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5200"/>
              <a:buFont typeface="Arial"/>
              <a:buNone/>
            </a:pPr>
            <a:r>
              <a:rPr b="1" i="0" lang="en-US" sz="5200">
                <a:solidFill>
                  <a:srgbClr val="F6F5F1"/>
                </a:solidFill>
                <a:latin typeface="Arial"/>
                <a:ea typeface="Arial"/>
                <a:cs typeface="Arial"/>
                <a:sym typeface="Arial"/>
              </a:rPr>
              <a:t>¿Por qué trabajar en In-N-Out?</a:t>
            </a:r>
            <a:endParaRPr sz="5200"/>
          </a:p>
        </p:txBody>
      </p:sp>
      <p:sp>
        <p:nvSpPr>
          <p:cNvPr id="23" name="Google Shape;23;p1"/>
          <p:cNvSpPr/>
          <p:nvPr/>
        </p:nvSpPr>
        <p:spPr>
          <a:xfrm>
            <a:off x="812800" y="2192020"/>
            <a:ext cx="1088339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6F5F1"/>
                </a:solidFill>
                <a:latin typeface="Arial"/>
                <a:ea typeface="Arial"/>
                <a:cs typeface="Arial"/>
                <a:sym typeface="Arial"/>
              </a:rPr>
              <a:t>Diagnóstico de marca empleadora frente a la competencia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286004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EB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9AEB2"/>
                </a:solidFill>
                <a:latin typeface="Arial"/>
                <a:ea typeface="Arial"/>
                <a:cs typeface="Arial"/>
                <a:sym typeface="Arial"/>
              </a:rPr>
              <a:t>Reseñas de Glassdoor · jul 2018 – abr 2023 · 15.544 reseñas · 5 empresas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Qué hemos analizado</a:t>
            </a:r>
            <a:endParaRPr sz="3200"/>
          </a:p>
        </p:txBody>
      </p:sp>
      <p:sp>
        <p:nvSpPr>
          <p:cNvPr id="31" name="Google Shape;31;p2"/>
          <p:cNvSpPr/>
          <p:nvPr/>
        </p:nvSpPr>
        <p:spPr>
          <a:xfrm>
            <a:off x="815975" y="1567815"/>
            <a:ext cx="3380264" cy="1769110"/>
          </a:xfrm>
          <a:prstGeom prst="roundRect">
            <a:avLst>
              <a:gd fmla="val 5564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46480" y="1798320"/>
            <a:ext cx="3006831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La pregunta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46480" y="2146300"/>
            <a:ext cx="3006831" cy="98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¿Qué valoran los empleados de In-N-Out, qué les hace irse y en qué estamos mejor o peor que el mercado?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405789" y="1567815"/>
            <a:ext cx="3380343" cy="1769110"/>
          </a:xfrm>
          <a:prstGeom prst="roundRect">
            <a:avLst>
              <a:gd fmla="val 5564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636294" y="1798320"/>
            <a:ext cx="300691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La competencia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636294" y="2146300"/>
            <a:ext cx="3006913" cy="98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Wendy’s, Sonic, Jack in the Box y Shake Shack: misma comida rápida y mismo talento (equipo de tienda y encargados).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995682" y="1567815"/>
            <a:ext cx="3380343" cy="1769110"/>
          </a:xfrm>
          <a:prstGeom prst="roundRect">
            <a:avLst>
              <a:gd fmla="val 5564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226187" y="1798320"/>
            <a:ext cx="300691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El método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6187" y="2146300"/>
            <a:ext cx="3006913" cy="98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Un modelo de lenguaje (DistilBERT) valida los textos y otro (BERTopic) los agrupa en 9 temas de negocio. 5.000 reseñas, 1.000 por empresa.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12800" y="3644900"/>
            <a:ext cx="10883392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Cómo se lee:</a:t>
            </a:r>
            <a:r>
              <a:rPr b="0" i="0" lang="en-US" sz="15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 ventaja neta = % de reseñas que citan un tema como positivo − % que lo citan como queja, comparado con la media de la competencia.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00" y="4313300"/>
            <a:ext cx="8127600" cy="23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812800" y="812800"/>
            <a:ext cx="10883392" cy="3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2290"/>
              <a:buFont typeface="Arial"/>
              <a:buNone/>
            </a:pPr>
            <a:r>
              <a:rPr b="1" i="0" lang="en-US" sz="229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In-N-Out es el empleador mejor valorado del grupo</a:t>
            </a:r>
            <a:endParaRPr sz="2290"/>
          </a:p>
        </p:txBody>
      </p:sp>
      <p:sp>
        <p:nvSpPr>
          <p:cNvPr id="48" name="Google Shape;48;p3"/>
          <p:cNvSpPr/>
          <p:nvPr/>
        </p:nvSpPr>
        <p:spPr>
          <a:xfrm>
            <a:off x="812800" y="1433275"/>
            <a:ext cx="5180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Nota media de los empleados (1–5)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12800" y="2258775"/>
            <a:ext cx="1765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In-N-Out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654300" y="2243534"/>
            <a:ext cx="4083050" cy="279400"/>
          </a:xfrm>
          <a:prstGeom prst="roundRect">
            <a:avLst>
              <a:gd fmla="val 13636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895675" y="2196475"/>
            <a:ext cx="4665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4,29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12800" y="3457654"/>
            <a:ext cx="1765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Shake Shack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54300" y="3442415"/>
            <a:ext cx="3448050" cy="279400"/>
          </a:xfrm>
          <a:prstGeom prst="roundRect">
            <a:avLst>
              <a:gd fmla="val 13636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270850" y="3457644"/>
            <a:ext cx="466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3,62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12800" y="4656534"/>
            <a:ext cx="1765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Wendy’s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654300" y="4641295"/>
            <a:ext cx="3111500" cy="279400"/>
          </a:xfrm>
          <a:prstGeom prst="roundRect">
            <a:avLst>
              <a:gd fmla="val 13636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924550" y="4565975"/>
            <a:ext cx="466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3,27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12800" y="5855415"/>
            <a:ext cx="1765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Jack in the Box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654300" y="5840175"/>
            <a:ext cx="3092450" cy="279400"/>
          </a:xfrm>
          <a:prstGeom prst="roundRect">
            <a:avLst>
              <a:gd fmla="val 13636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822325" y="5822025"/>
            <a:ext cx="4485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3,25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12800" y="7054295"/>
            <a:ext cx="1765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Sonic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654300" y="7039054"/>
            <a:ext cx="2990850" cy="279400"/>
          </a:xfrm>
          <a:prstGeom prst="roundRect">
            <a:avLst>
              <a:gd fmla="val 13636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772150" y="6680915"/>
            <a:ext cx="120650" cy="102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3,14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50000" y="1433275"/>
            <a:ext cx="518007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635400" y="1498025"/>
            <a:ext cx="5180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de quienes opinan recomiendan In-N-Out (competencia: 48–63%)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50000" y="2764234"/>
            <a:ext cx="518007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7,8%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900100" y="3020509"/>
            <a:ext cx="5180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no lo recomienda (competencia: 22–32%)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2800" y="6238241"/>
            <a:ext cx="98107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Fuente: Glassdoor, 15.544 reseñas completas. Recomendación calculada sobre quienes opinan.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22ced42281e33bb9_0_17"/>
          <p:cNvSpPr txBox="1"/>
          <p:nvPr>
            <p:ph type="title"/>
          </p:nvPr>
        </p:nvSpPr>
        <p:spPr>
          <a:xfrm>
            <a:off x="812800" y="812800"/>
            <a:ext cx="105663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h22ced42281e33bb9_0_17"/>
          <p:cNvSpPr txBox="1"/>
          <p:nvPr>
            <p:ph idx="1" type="body"/>
          </p:nvPr>
        </p:nvSpPr>
        <p:spPr>
          <a:xfrm>
            <a:off x="812800" y="1564640"/>
            <a:ext cx="10566300" cy="44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h22ced42281e33bb9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00" y="812800"/>
            <a:ext cx="11054200" cy="567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El salario es su gran ventaja</a:t>
            </a:r>
            <a:endParaRPr sz="3200"/>
          </a:p>
        </p:txBody>
      </p:sp>
      <p:sp>
        <p:nvSpPr>
          <p:cNvPr id="83" name="Google Shape;83;p4"/>
          <p:cNvSpPr/>
          <p:nvPr/>
        </p:nvSpPr>
        <p:spPr>
          <a:xfrm>
            <a:off x="812800" y="1564641"/>
            <a:ext cx="934403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n-US" sz="13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In-N-Out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845469" y="1564641"/>
            <a:ext cx="2377440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4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A949C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n-US" sz="13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Media de la competencia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12800" y="1998980"/>
            <a:ext cx="5180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% de reseñas con cada tema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12800" y="2832100"/>
            <a:ext cx="20929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Lo citan como positivo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997200" y="2689861"/>
            <a:ext cx="2844800" cy="215900"/>
          </a:xfrm>
          <a:prstGeom prst="roundRect">
            <a:avLst>
              <a:gd fmla="val 17647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933450" y="2655575"/>
            <a:ext cx="4524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997200" y="3202941"/>
            <a:ext cx="1898650" cy="215900"/>
          </a:xfrm>
          <a:prstGeom prst="roundRect">
            <a:avLst>
              <a:gd fmla="val 17647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997450" y="3195320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12800" y="3779520"/>
            <a:ext cx="20929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Lo citan como queja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997200" y="3637280"/>
            <a:ext cx="571500" cy="215900"/>
          </a:xfrm>
          <a:prstGeom prst="roundRect">
            <a:avLst>
              <a:gd fmla="val 17647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670300" y="3629661"/>
            <a:ext cx="28948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997200" y="3919220"/>
            <a:ext cx="2374900" cy="215900"/>
          </a:xfrm>
          <a:prstGeom prst="roundRect">
            <a:avLst>
              <a:gd fmla="val 17647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473700" y="3911600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350000" y="1564641"/>
            <a:ext cx="518007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+19,7 pts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350000" y="2212341"/>
            <a:ext cx="5180076" cy="26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ventaja neta frente a la competencia (rango fiable: +17 a +23)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50000" y="2655570"/>
            <a:ext cx="5180076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Comprobado con un conteo directo de palabras: </a:t>
            </a: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de las reseñas de In-N-Out citan el pago como algo bueno, frente a </a:t>
            </a: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en la competencia.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Fuente: BERTopic sobre 5.000 reseñas; conteo de palabras sobre 15.544.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Lo que más baja la nota son los jefes, no el ritmo</a:t>
            </a:r>
            <a:endParaRPr sz="3200"/>
          </a:p>
        </p:txBody>
      </p:sp>
      <p:sp>
        <p:nvSpPr>
          <p:cNvPr id="106" name="Google Shape;106;p5"/>
          <p:cNvSpPr/>
          <p:nvPr/>
        </p:nvSpPr>
        <p:spPr>
          <a:xfrm>
            <a:off x="812800" y="1564639"/>
            <a:ext cx="5180076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Nota de quienes se quejan del tema, frente a la media de su empresa (puntos)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12800" y="2487932"/>
            <a:ext cx="1896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Dirección y jefes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327350" y="2495563"/>
            <a:ext cx="666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−0,62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927350" y="2485389"/>
            <a:ext cx="1885950" cy="254000"/>
          </a:xfrm>
          <a:prstGeom prst="roundRect">
            <a:avLst>
              <a:gd fmla="val 15000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5"/>
          <p:cNvCxnSpPr/>
          <p:nvPr/>
        </p:nvCxnSpPr>
        <p:spPr>
          <a:xfrm>
            <a:off x="4819650" y="2574289"/>
            <a:ext cx="0" cy="76200"/>
          </a:xfrm>
          <a:prstGeom prst="straightConnector1">
            <a:avLst/>
          </a:prstGeom>
          <a:noFill/>
          <a:ln cap="flat" cmpd="sng" w="12700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812800" y="3164839"/>
            <a:ext cx="1896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Compensación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500200" y="3173732"/>
            <a:ext cx="493950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−0,27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994150" y="3162300"/>
            <a:ext cx="819150" cy="254000"/>
          </a:xfrm>
          <a:prstGeom prst="roundRect">
            <a:avLst>
              <a:gd fmla="val 15000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5"/>
          <p:cNvCxnSpPr/>
          <p:nvPr/>
        </p:nvCxnSpPr>
        <p:spPr>
          <a:xfrm>
            <a:off x="4819650" y="3251200"/>
            <a:ext cx="0" cy="76200"/>
          </a:xfrm>
          <a:prstGeom prst="straightConnector1">
            <a:avLst/>
          </a:prstGeom>
          <a:noFill/>
          <a:ln cap="flat" cmpd="sng" w="12700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812800" y="3622039"/>
            <a:ext cx="1896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Carrera y formación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652600" y="3630932"/>
            <a:ext cx="493950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−0,22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146550" y="3619500"/>
            <a:ext cx="666750" cy="254000"/>
          </a:xfrm>
          <a:prstGeom prst="roundRect">
            <a:avLst>
              <a:gd fmla="val 15000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5"/>
          <p:cNvCxnSpPr/>
          <p:nvPr/>
        </p:nvCxnSpPr>
        <p:spPr>
          <a:xfrm>
            <a:off x="4819650" y="3708400"/>
            <a:ext cx="0" cy="76200"/>
          </a:xfrm>
          <a:prstGeom prst="straightConnector1">
            <a:avLst/>
          </a:prstGeom>
          <a:noFill/>
          <a:ln cap="flat" cmpd="sng" w="12700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5"/>
          <p:cNvSpPr/>
          <p:nvPr/>
        </p:nvSpPr>
        <p:spPr>
          <a:xfrm>
            <a:off x="812800" y="4117339"/>
            <a:ext cx="1896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Horarios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2660650" y="4076700"/>
            <a:ext cx="0" cy="330200"/>
          </a:xfrm>
          <a:prstGeom prst="straightConnector1">
            <a:avLst/>
          </a:prstGeom>
          <a:noFill/>
          <a:ln cap="flat" cmpd="sng" w="12700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2664460" y="4114800"/>
            <a:ext cx="177800" cy="254000"/>
          </a:xfrm>
          <a:prstGeom prst="roundRect">
            <a:avLst>
              <a:gd fmla="val 21429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918460" y="4126232"/>
            <a:ext cx="50130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+0,06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12800" y="4650739"/>
            <a:ext cx="189674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Ritmo y carga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2660650" y="4610100"/>
            <a:ext cx="0" cy="330200"/>
          </a:xfrm>
          <a:prstGeom prst="straightConnector1">
            <a:avLst/>
          </a:prstGeom>
          <a:noFill/>
          <a:ln cap="flat" cmpd="sng" w="12700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2664460" y="4648200"/>
            <a:ext cx="971550" cy="254000"/>
          </a:xfrm>
          <a:prstGeom prst="roundRect">
            <a:avLst>
              <a:gd fmla="val 15000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712210" y="4659632"/>
            <a:ext cx="46855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+0,32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353175" y="1567814"/>
            <a:ext cx="5022850" cy="1529080"/>
          </a:xfrm>
          <a:prstGeom prst="roundRect">
            <a:avLst>
              <a:gd fmla="val 6437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583680" y="1798321"/>
            <a:ext cx="469869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Jefes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583680" y="2146300"/>
            <a:ext cx="4698695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In-N-Out está igual que la competencia (16% vs 18% de las quejas), pero es lo que más daña la valoración: el 38% de quien se queja no recomienda (media: 24%).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353175" y="3306446"/>
            <a:ext cx="5022850" cy="1529080"/>
          </a:xfrm>
          <a:prstGeom prst="roundRect">
            <a:avLst>
              <a:gd fmla="val 6437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583680" y="3536950"/>
            <a:ext cx="469869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Ritmo y horarios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583680" y="3884932"/>
            <a:ext cx="4698695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Se citan más que en la competencia (29% y 26% vs 15% y 17%), pero quien se queja puntúa igual o mejor: cansa, no desencanta.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Fuente: BERTopic, 5.000 reseñas; efecto = nota de la reseña − media de su empresa.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12800" y="812800"/>
            <a:ext cx="11379200" cy="812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000"/>
              <a:buFont typeface="Arial"/>
              <a:buNone/>
            </a:pPr>
            <a:r>
              <a:rPr b="1" i="0" lang="en-US" sz="30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Quien se va, se va por el ritmo y los jefes, no por el dinero</a:t>
            </a:r>
            <a:endParaRPr sz="3000"/>
          </a:p>
        </p:txBody>
      </p:sp>
      <p:sp>
        <p:nvSpPr>
          <p:cNvPr id="140" name="Google Shape;140;p6"/>
          <p:cNvSpPr/>
          <p:nvPr/>
        </p:nvSpPr>
        <p:spPr>
          <a:xfrm>
            <a:off x="812800" y="1904603"/>
            <a:ext cx="934403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n-US" sz="13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In-N-Out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845469" y="1904603"/>
            <a:ext cx="2377440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49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A949C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n-US" sz="13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Media de la competencia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12800" y="2338943"/>
            <a:ext cx="51800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% de las quejas de antiguos empleados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12800" y="3172064"/>
            <a:ext cx="20929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Ritmo y carga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997200" y="3029824"/>
            <a:ext cx="3003550" cy="215900"/>
          </a:xfrm>
          <a:prstGeom prst="roundRect">
            <a:avLst>
              <a:gd fmla="val 17647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092200" y="3029825"/>
            <a:ext cx="633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997200" y="3542903"/>
            <a:ext cx="1606550" cy="215900"/>
          </a:xfrm>
          <a:prstGeom prst="roundRect">
            <a:avLst>
              <a:gd fmla="val 17647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705350" y="3535285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12800" y="4350624"/>
            <a:ext cx="20929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Horarios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997200" y="4208385"/>
            <a:ext cx="2762250" cy="215900"/>
          </a:xfrm>
          <a:prstGeom prst="roundRect">
            <a:avLst>
              <a:gd fmla="val 17647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850900" y="4208375"/>
            <a:ext cx="4890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997200" y="4721464"/>
            <a:ext cx="1962150" cy="215900"/>
          </a:xfrm>
          <a:prstGeom prst="roundRect">
            <a:avLst>
              <a:gd fmla="val 17647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060950" y="4713843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12800" y="5298043"/>
            <a:ext cx="20929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Dirección y jefes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997200" y="5155803"/>
            <a:ext cx="2133600" cy="215900"/>
          </a:xfrm>
          <a:prstGeom prst="roundRect">
            <a:avLst>
              <a:gd fmla="val 17647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232400" y="5148185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997200" y="5437743"/>
            <a:ext cx="2260600" cy="215900"/>
          </a:xfrm>
          <a:prstGeom prst="roundRect">
            <a:avLst>
              <a:gd fmla="val 17647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359400" y="5430124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12800" y="6014324"/>
            <a:ext cx="20929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Compensación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997200" y="5872085"/>
            <a:ext cx="330200" cy="215900"/>
          </a:xfrm>
          <a:prstGeom prst="roundRect">
            <a:avLst>
              <a:gd fmla="val 17647" name="adj"/>
            </a:avLst>
          </a:prstGeom>
          <a:solidFill>
            <a:srgbClr val="C810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429000" y="5864464"/>
            <a:ext cx="28948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997200" y="6154024"/>
            <a:ext cx="1892300" cy="215900"/>
          </a:xfrm>
          <a:prstGeom prst="roundRect">
            <a:avLst>
              <a:gd fmla="val 17647" name="adj"/>
            </a:avLst>
          </a:prstGeom>
          <a:solidFill>
            <a:srgbClr val="8A9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991100" y="6146403"/>
            <a:ext cx="396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350000" y="1904603"/>
            <a:ext cx="518007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4,20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350000" y="2539603"/>
            <a:ext cx="5180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nota media de quienes se han ido: la brecha con los actuales es la menor del grupo (0,19)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350000" y="3235564"/>
            <a:ext cx="5180076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Las quejas sobre jefes suben de </a:t>
            </a: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entre actuales a </a:t>
            </a:r>
            <a:r>
              <a:rPr b="1" i="0" lang="en-US" sz="14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entre antiguos.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12800" y="6613764"/>
            <a:ext cx="9810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Fuente: BERTopic; antiguos empleados de cada empresa (≈ 490 por empresa en la muestra).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22ced42281e33bb9_0_24"/>
          <p:cNvSpPr txBox="1"/>
          <p:nvPr>
            <p:ph type="title"/>
          </p:nvPr>
        </p:nvSpPr>
        <p:spPr>
          <a:xfrm>
            <a:off x="812800" y="812800"/>
            <a:ext cx="10566300" cy="4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22ced42281e33bb9_0_24"/>
          <p:cNvSpPr txBox="1"/>
          <p:nvPr>
            <p:ph idx="1" type="body"/>
          </p:nvPr>
        </p:nvSpPr>
        <p:spPr>
          <a:xfrm>
            <a:off x="812800" y="1564640"/>
            <a:ext cx="10566300" cy="44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h22ced42281e33bb9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100" y="633425"/>
            <a:ext cx="9598075" cy="55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Tres acciones para RRHH</a:t>
            </a:r>
            <a:endParaRPr sz="3200"/>
          </a:p>
        </p:txBody>
      </p:sp>
      <p:sp>
        <p:nvSpPr>
          <p:cNvPr id="181" name="Google Shape;181;p7"/>
          <p:cNvSpPr/>
          <p:nvPr/>
        </p:nvSpPr>
        <p:spPr>
          <a:xfrm>
            <a:off x="815975" y="1567814"/>
            <a:ext cx="3380264" cy="1769110"/>
          </a:xfrm>
          <a:prstGeom prst="roundRect">
            <a:avLst>
              <a:gd fmla="val 5564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046480" y="1798321"/>
            <a:ext cx="3006831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1 · Retener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46480" y="2146300"/>
            <a:ext cx="3006831" cy="98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Formar y evaluar a los mandos intermedios. Es lo que más baja la nota y pesa más entre quienes se van.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405789" y="1567814"/>
            <a:ext cx="3380343" cy="1769110"/>
          </a:xfrm>
          <a:prstGeom prst="roundRect">
            <a:avLst>
              <a:gd fmla="val 5564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636294" y="1798321"/>
            <a:ext cx="300691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2 · Atraer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636294" y="2146300"/>
            <a:ext cx="3006913" cy="74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Poner el salario en el centro del mensaje de empleo (47% vs 17% de menciones positivas) y protegerlo.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995682" y="1567814"/>
            <a:ext cx="3380343" cy="1769110"/>
          </a:xfrm>
          <a:prstGeom prst="roundRect">
            <a:avLst>
              <a:gd fmla="val 5564" name="adj"/>
            </a:avLst>
          </a:prstGeom>
          <a:solidFill>
            <a:srgbClr val="FFFFFF"/>
          </a:solidFill>
          <a:ln cap="flat" cmpd="sng" w="9525">
            <a:solidFill>
              <a:srgbClr val="E1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226187" y="1798321"/>
            <a:ext cx="3006913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3 · Retener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226187" y="2146300"/>
            <a:ext cx="3006913" cy="98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F66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Turnos más predecibles y contacto con quienes se van: están satisfechos y son candidatos a volver.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12800" y="3644900"/>
            <a:ext cx="1088339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Próximos pasos:</a:t>
            </a:r>
            <a:r>
              <a:rPr b="0" i="0" lang="en-US" sz="1300" u="none" cap="none" strike="noStrike">
                <a:solidFill>
                  <a:srgbClr val="5F666B"/>
                </a:solidFill>
                <a:latin typeface="Arial"/>
                <a:ea typeface="Arial"/>
                <a:cs typeface="Arial"/>
                <a:sym typeface="Arial"/>
              </a:rPr>
              <a:t> análisis por rol y seguimiento trimestral.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ca empleadora de In-N-Out Burger vs. peers">
  <a:themeElements>
    <a:clrScheme name="Marca empleadora de In-N-Out Burger vs. peers">
      <a:dk1>
        <a:srgbClr val="1D1D1B"/>
      </a:dk1>
      <a:lt1>
        <a:srgbClr val="F6F5F1"/>
      </a:lt1>
      <a:dk2>
        <a:srgbClr val="535351"/>
      </a:dk2>
      <a:lt2>
        <a:srgbClr val="E0DFDC"/>
      </a:lt2>
      <a:accent1>
        <a:srgbClr val="C8102E"/>
      </a:accent1>
      <a:accent2>
        <a:srgbClr val="5F666B"/>
      </a:accent2>
      <a:accent3>
        <a:srgbClr val="8A949C"/>
      </a:accent3>
      <a:accent4>
        <a:srgbClr val="A9AEB2"/>
      </a:accent4>
      <a:accent5>
        <a:srgbClr val="9AA0A6"/>
      </a:accent5>
      <a:accent6>
        <a:srgbClr val="74737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ca empleadora de In-N-Out Burger vs. peers">
  <a:themeElements>
    <a:clrScheme name="Marca empleadora de In-N-Out Burger vs. peers">
      <a:dk1>
        <a:srgbClr val="1D1D1B"/>
      </a:dk1>
      <a:lt1>
        <a:srgbClr val="F6F5F1"/>
      </a:lt1>
      <a:dk2>
        <a:srgbClr val="535351"/>
      </a:dk2>
      <a:lt2>
        <a:srgbClr val="E0DFDC"/>
      </a:lt2>
      <a:accent1>
        <a:srgbClr val="C8102E"/>
      </a:accent1>
      <a:accent2>
        <a:srgbClr val="5F666B"/>
      </a:accent2>
      <a:accent3>
        <a:srgbClr val="8A949C"/>
      </a:accent3>
      <a:accent4>
        <a:srgbClr val="A9AEB2"/>
      </a:accent4>
      <a:accent5>
        <a:srgbClr val="9AA0A6"/>
      </a:accent5>
      <a:accent6>
        <a:srgbClr val="74737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2026-10-12T11:40:58Z</dcterms:created>
</cp:coreProperties>
</file>